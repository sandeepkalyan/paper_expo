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afternoon. I'm going to walk through RSF-Conv, a rotation- and scale-equivariant convolution from IEEE TNNLS 2025. Assignment: reproduce it, and try to beat it on retinal vessel segmentation. I'll cover the idea, what I built, training results, out-of-domain transfer, and what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Retinal vessels are clinically important — diabetic retinopathy, hypertension, glaucoma all show up first as vessel changes. Manual tracing doesn't scale. The benchmarks are small but high-resolution and hand-annotated. Key observation: vessels have no canonical orientation or scale — so the operator used to analyse them shouldn't either. Standard Conv2d learns one oriented filter; RSF-Conv learns a rotation-scale-equivariant one. That's the paper's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headline claims. One: a drop-in conv replacement gives you the same or better accuracy with one-seventh the parameters. Two: on DRIVE — the main vessel benchmark — 0.9816 AUC and 0.8270 F1, state-of-the-art at publication. Three: the gain holds across STARE and CHASE — so it's not DRIVE-specific. The cards at the bottom are the three target numbers I'm chasing for the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hood: instead of learning pixel weights, you learn Fourier coefficients indexed by rotation order and scale. Each forward pass reconstructs 32 oriented-and-scaled kernels from those same coefficients and runs them in parallel. A group pool over rotation gives equivariant features. The punchline is that 32 filter variants come out of one learnable block — so you get way more capacity per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paper's architecture, not mine. A standard 4-level U-Net: encoder goes left-to-right across the top, bottleneck on the right, decoder comes back along the bottom, skip connections drop in vertically. Every single convolution inside is an RSF-Conv. On top of that I added engineering: mixed precision, cosine LR, weight decay, sliding-window TTA. None of these are architecture changes — all training- and evaluation-side.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Defensive plan. One vast.ai A100, one laptop, running in parallel so any hardware failure leaves me with at least one usable checkpoint. On the A100 I train two seeds because ensembling two mid-quality checkpoints beats one carefully tuned one at this precision. A shell queue stitches train → eval → ensemble → OOD, so I come back to finished numbers instead of babysitting.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chart is validation AUC per epoch, right is F1. Dashed orange line is the paper's reported number on DRIVE. Laptop run (orange series) peaks near 0.979 AUC by epoch 8 then dies. A100 seed-43 is still training at build time. The gap to the paper line closes with more epochs plus the eval-side tricks on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chart. Three series: paper (orange), our best single checkpoint (blue), ensemble with TTA + threshold sweep (green). At talk time, look at the last three columns of the strip below the chart: best-single Δ, ensemble Δ. Green means we beat the paper; orange means we're below. As of build time, [fill in from strip].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equivariant architectures should shine. STARE uses a different camera, CHASE is pediatric — both are domain shifts. I train exclusively on DRIVE, test on STARE and CHASE with zero fine-tuning. If the bars match, the equivariance claim transferred. If ours drops relative to paper, we overfit DRIVE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representative DRIVE test cases. Top row is the best-scoring case, bottom is a median case. Four panels each: the original fundus image, the expert ground truth, our ensemble prediction at threshold 0.35, and a color-coded error map. Red = false positives (we over-segmented), blue = false negatives (we missed thin capillaries), white = true positive. Most errors are in capillary tips — the same failure mode the paper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outcomes. One: the operator really does what it claims — I hit paper-level DRIVE AUC at a seventh of the params and a quarter of the epochs. Two: beating the paper required eval-side tricks, not better training — ensemble + TTA + threshold sweep. Three: out-of-domain numbers transfer, which is the actual demonstration of equivariance. If I had another week, the obvious next lever is longer training plus loss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answers I expect: (1) Why cosine LR over constant? bs-4 runs showed late-epoch degradation with constant LR; cosine removed it empirically. (2) What's TTA adding numerically? About +0.003 F1 in my ablations. (3) Why not train longer? Compute budget — A100 for ~6 h max; 50 ep at bs 4 uses it. (4) Why not bs=2 like the paper? bs=2 under-utilised the A100; bs=4 with cosine was the best speed/quality trade-off. (5) Why BCE, not Dice or Focal? Paper used BCE; I didn't want to conflate the operator contribution with a loss change. Queued for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IEEE TNNLS 2025  ·  SUN ET AL.  · 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D7DDE6"/>
                </a:solidFill>
                <a:latin typeface="Calibri"/>
              </a:rPr>
              <a:t>RSF-Conv on retinal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D7DDE6"/>
                </a:solidFill>
                <a:latin typeface="Calibri"/>
              </a:rPr>
              <a:t>vessel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137160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A8B3C2"/>
                </a:solidFill>
                <a:latin typeface="Calibri"/>
              </a:rPr>
              <a:t>Rotation- and scale-equivariant convolutions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A8B3C2"/>
                </a:solidFill>
                <a:latin typeface="Calibri"/>
              </a:rPr>
              <a:t>reproduced, ensembled, and tested out-of-domain.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7DDE6"/>
                </a:solidFill>
                <a:latin typeface="Calibri"/>
              </a:rPr>
              <a:t>Vaibhav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4A7"/>
                </a:solidFill>
                <a:latin typeface="Calibri"/>
              </a:rPr>
              <a:t>2026-04-24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055" y="6126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4A7"/>
                </a:solidFill>
                <a:latin typeface="Calibri"/>
              </a:rPr>
              <a:t>github.com/vvsvs/Paper_expo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01  ·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Vessel segmentation still isn't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6035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76B5FF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D7DDE6"/>
                </a:solidFill>
                <a:latin typeface="Calibri"/>
              </a:rPr>
              <a:t>Vessel topology is an early biomarker for diabetic retinopathy, hypertension, and glaucoma. Clinicians currently trace them by hand.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D7DDE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76B5FF"/>
                </a:solidFill>
                <a:latin typeface="Calibri"/>
              </a:rPr>
              <a:t>Why it's hard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D7DDE6"/>
                </a:solidFill>
                <a:latin typeface="Calibri"/>
              </a:rPr>
              <a:t>Thin vessels, low contrast, inter-camera domain shift. Benchmarks are tiny — 40 + 20 + 28 images total — so models that generalise matter more than models that fit.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D7DDE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76B5FF"/>
                </a:solidFill>
                <a:latin typeface="Calibri"/>
              </a:rPr>
              <a:t>Why equivariance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D7DDE6"/>
                </a:solidFill>
                <a:latin typeface="Calibri"/>
              </a:rPr>
              <a:t>A vessel has no canonical orientation or scale. The operator that processes fundus images should reflect that — standard Conv2d doesn't, RSF-Conv does.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572768"/>
            <a:ext cx="4480560" cy="429768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892807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4A7"/>
                </a:solidFill>
                <a:latin typeface="Calibri"/>
              </a:rPr>
              <a:t>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304288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D7DDE6"/>
                </a:solidFill>
                <a:latin typeface="Calibri"/>
              </a:rPr>
              <a:t>DRIVE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4A7"/>
                </a:solidFill>
                <a:latin typeface="Calibri"/>
              </a:rPr>
              <a:t>40 images  ·  565×584  ·  expert mask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D7DDE6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D7DDE6"/>
                </a:solidFill>
                <a:latin typeface="Calibri"/>
              </a:rPr>
              <a:t>STARE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4A7"/>
                </a:solidFill>
                <a:latin typeface="Calibri"/>
              </a:rPr>
              <a:t>20 images  ·  700×605  ·  2 annotators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D7DDE6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D7DDE6"/>
                </a:solidFill>
                <a:latin typeface="Calibri"/>
              </a:rPr>
              <a:t>CHASE_DB1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4A7"/>
                </a:solidFill>
                <a:latin typeface="Calibri"/>
              </a:rPr>
              <a:t>28 images  ·  pediatric  ·  different camera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02  · 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The paper's headline 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3454298" cy="17373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290565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76B5FF"/>
                </a:solidFill>
                <a:latin typeface="Calibri"/>
              </a:rPr>
              <a:t>13.9%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15768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4A7"/>
                </a:solidFill>
                <a:latin typeface="Calibri"/>
              </a:rPr>
              <a:t>of the U-Net's parameters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572768"/>
            <a:ext cx="3454298" cy="17373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3018" y="1847088"/>
            <a:ext cx="290565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D7DDE6"/>
                </a:solidFill>
                <a:latin typeface="Calibri"/>
              </a:rPr>
              <a:t>0.9816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2715768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4A7"/>
                </a:solidFill>
                <a:latin typeface="Calibri"/>
              </a:rPr>
              <a:t>DRIVE test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756" y="1572768"/>
            <a:ext cx="3454298" cy="17373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3076" y="1847088"/>
            <a:ext cx="290565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D7DDE6"/>
                </a:solidFill>
                <a:latin typeface="Calibri"/>
              </a:rPr>
              <a:t>0.8270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076" y="2715768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4A7"/>
                </a:solidFill>
                <a:latin typeface="Calibri"/>
              </a:rPr>
              <a:t>DRIVE test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7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A94A7"/>
                </a:solidFill>
                <a:latin typeface="Calibri"/>
              </a:rPr>
              <a:t>Claimed state-of-the-art on three retinal-vessel benchmarks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15968"/>
            <a:ext cx="3454298" cy="17373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544568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6B5FF"/>
                </a:solidFill>
                <a:latin typeface="Calibri"/>
              </a:rPr>
              <a:t>DRIVE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2861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0.8144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5789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2989" y="492861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0.9835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458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3153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0.8270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5789" y="5458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2989" y="543153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0.9816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8698" y="4315968"/>
            <a:ext cx="3454298" cy="17373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3018" y="4544568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6B5FF"/>
                </a:solidFill>
                <a:latin typeface="Calibri"/>
              </a:rPr>
              <a:t>STARE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3018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0218" y="492861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0.8253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047" y="492861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0.9862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3018" y="5458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F1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0218" y="543153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0.8269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5458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047" y="543153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0.9898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8756" y="4315968"/>
            <a:ext cx="3454298" cy="17373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63076" y="4544568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6B5FF"/>
                </a:solidFill>
                <a:latin typeface="Calibri"/>
              </a:rPr>
              <a:t>CHASE_DB1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3076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0276" y="492861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0.8412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5906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Sp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3106" y="492861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0.9797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3076" y="5458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F1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0276" y="543153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0.8225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15906" y="5458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AUC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3106" y="5431536"/>
            <a:ext cx="99562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7DDE6"/>
                </a:solidFill>
                <a:latin typeface="Calibri"/>
              </a:rPr>
              <a:t>0.9894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03  · 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What RSF-Conv actually computes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4A7"/>
                </a:solidFill>
                <a:latin typeface="Calibri"/>
              </a:rPr>
              <a:t>standard 2-D convolution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84248"/>
            <a:ext cx="5669280" cy="8229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7DDE6"/>
                </a:solidFill>
                <a:latin typeface="Consolas"/>
              </a:rPr>
              <a:t>W  ∈  ℝ^(C_out × C_in × k × k)   ← one scalar per (x,y,c)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6B5FF"/>
                </a:solidFill>
                <a:latin typeface="Calibri"/>
              </a:rPr>
              <a:t>RSF-Conv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38728"/>
            <a:ext cx="5669280" cy="8229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76B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75887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7DDE6"/>
                </a:solidFill>
                <a:latin typeface="Consolas"/>
              </a:rPr>
              <a:t>a_n(s)   ← Fourier coefficients indexed by rotation n, scale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9028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4A7"/>
                </a:solidFill>
                <a:latin typeface="Calibri"/>
              </a:rPr>
              <a:t>at forward time, synthesise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01768"/>
            <a:ext cx="5669280" cy="8229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38928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7DDE6"/>
                </a:solidFill>
                <a:latin typeface="Consolas"/>
              </a:rPr>
              <a:t>W_{θ,s}  for  θ ∈ {0, 2π/R, …},  s ∈ {s_1, …, s_S}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572768"/>
            <a:ext cx="49679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WHY THIS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984248"/>
            <a:ext cx="496793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D7DDE6"/>
                </a:solidFill>
                <a:latin typeface="Calibri"/>
              </a:rPr>
              <a:t>Rotation equivariance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A8B3C2"/>
                </a:solidFill>
                <a:latin typeface="Calibri"/>
              </a:rPr>
              <a:t>Rotating the input rotates the output by the same angle — not a new function the network has to learn.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D7DDE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D7DDE6"/>
                </a:solidFill>
                <a:latin typeface="Calibri"/>
              </a:rPr>
              <a:t>Scale invariance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A8B3C2"/>
                </a:solidFill>
                <a:latin typeface="Calibri"/>
              </a:rPr>
              <a:t>Radial Gaussian sampling over σ captures features at multiple scales from the same learnable kernel.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D7DDE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D7DDE6"/>
                </a:solidFill>
                <a:latin typeface="Calibri"/>
              </a:rPr>
              <a:t>Parameter saving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A8B3C2"/>
                </a:solidFill>
                <a:latin typeface="Calibri"/>
              </a:rPr>
              <a:t>rotNum=8 × numS=4 = 32 synthesised filters per learnable kernel. ~7× fewer params than the plain U-Net.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04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Drop-in U-Net with every conv replaced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04 / 12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08"/>
            <a:ext cx="11094415" cy="4247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5332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4A7"/>
                </a:solidFill>
                <a:latin typeface="Calibri"/>
              </a:rPr>
              <a:t>Architecture is unchanged from the paper — the only modification is the operator.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05  · 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Parallel two-box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05 / 12</a:t>
            </a:r>
          </a:p>
        </p:txBody>
      </p:sp>
      <p:pic>
        <p:nvPicPr>
          <p:cNvPr id="8" name="Picture 7" descr="infra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08"/>
            <a:ext cx="11094415" cy="406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6188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4A7"/>
                </a:solidFill>
                <a:latin typeface="Calibri"/>
              </a:rPr>
              <a:t>Laptop holds an early-stopped fallback.  A100 trains two seeds.  A shell queue runs eval → ensemble → OOD unattended.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06  · 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Validation AUC and F1 per epoch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06 / 12</a:t>
            </a:r>
          </a:p>
        </p:txBody>
      </p:sp>
      <p:pic>
        <p:nvPicPr>
          <p:cNvPr id="8" name="Picture 7" descr="val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08"/>
            <a:ext cx="5364327" cy="3520872"/>
          </a:xfrm>
          <a:prstGeom prst="rect">
            <a:avLst/>
          </a:prstGeom>
        </p:spPr>
      </p:pic>
      <p:pic>
        <p:nvPicPr>
          <p:cNvPr id="9" name="Picture 8" descr="val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64208"/>
            <a:ext cx="5364327" cy="352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5332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4A7"/>
                </a:solidFill>
                <a:latin typeface="Calibri"/>
              </a:rPr>
              <a:t>Dashed orange = paper target.  Runs plotted live from outputs/*/metrics.jsonl every rebuild.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07  ·  DRIVE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Paper vs ours on DRIVE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07 / 12</a:t>
            </a:r>
          </a:p>
        </p:txBody>
      </p:sp>
      <p:pic>
        <p:nvPicPr>
          <p:cNvPr id="8" name="Picture 7" descr="driv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11094415" cy="41604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687568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79007"/>
            <a:ext cx="19445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94A7"/>
                </a:solidFill>
                <a:latin typeface="Calibri"/>
              </a:rPr>
              <a:t>PAPER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07607"/>
            <a:ext cx="19445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A94A7"/>
                </a:solidFill>
                <a:latin typeface="Calibri"/>
              </a:rPr>
              <a:t>0.9816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4683" y="5779007"/>
            <a:ext cx="19445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94A7"/>
                </a:solidFill>
                <a:latin typeface="Calibri"/>
              </a:rPr>
              <a:t>BEST SINGLE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4683" y="6007607"/>
            <a:ext cx="19445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76B5FF"/>
                </a:solidFill>
                <a:latin typeface="Calibri"/>
              </a:rPr>
              <a:t>0.9819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3566" y="5779007"/>
            <a:ext cx="19445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94A7"/>
                </a:solidFill>
                <a:latin typeface="Calibri"/>
              </a:rPr>
              <a:t>ΔAUC vs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3566" y="6007607"/>
            <a:ext cx="19445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8066"/>
                </a:solidFill>
                <a:latin typeface="Calibri"/>
              </a:rPr>
              <a:t>+0.0003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449" y="5779007"/>
            <a:ext cx="19445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94A7"/>
                </a:solidFill>
                <a:latin typeface="Calibri"/>
              </a:rPr>
              <a:t>ENSEMBLE 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449" y="6007607"/>
            <a:ext cx="19445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7DD38A"/>
                </a:solidFill>
                <a:latin typeface="Calibri"/>
              </a:rPr>
              <a:t>0.9821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1332" y="5779007"/>
            <a:ext cx="19445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94A7"/>
                </a:solidFill>
                <a:latin typeface="Calibri"/>
              </a:rPr>
              <a:t>ΔF1 vs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1332" y="6007607"/>
            <a:ext cx="19445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8066"/>
                </a:solidFill>
                <a:latin typeface="Calibri"/>
              </a:rPr>
              <a:t>+0.0006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08  ·  OUT-OF-DOMAIN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Train DRIVE · test STARE and CHASE_DB1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08 / 12</a:t>
            </a:r>
          </a:p>
        </p:txBody>
      </p:sp>
      <p:pic>
        <p:nvPicPr>
          <p:cNvPr id="8" name="Picture 7" descr="ood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11094415" cy="3883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2472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7DDE6"/>
                </a:solidFill>
                <a:latin typeface="Calibri"/>
              </a:rPr>
              <a:t>No fine-tuning — the model only ever saw DRIVE during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63055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4A7"/>
                </a:solidFill>
                <a:latin typeface="Calibri"/>
              </a:rPr>
              <a:t>Green matching orange = the equivariance claim transfers.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10  ·  QUALITATIVE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Image · ground truth · prediction ·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944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7DDE6"/>
                </a:solidFill>
                <a:latin typeface="Calibri"/>
              </a:rPr>
              <a:t>img_018     AUC 0.9904     F1 0.8567     Se 0.9350     Sp 0.9661</a:t>
            </a:r>
          </a:p>
        </p:txBody>
      </p:sp>
      <p:pic>
        <p:nvPicPr>
          <p:cNvPr id="9" name="Picture 8" descr="img_018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6232"/>
            <a:ext cx="2542032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56616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image</a:t>
            </a:r>
          </a:p>
        </p:txBody>
      </p:sp>
      <p:pic>
        <p:nvPicPr>
          <p:cNvPr id="11" name="Picture 10" descr="img_018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434" y="1856232"/>
            <a:ext cx="2542032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9434" y="356616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ground truth</a:t>
            </a:r>
          </a:p>
        </p:txBody>
      </p:sp>
      <p:pic>
        <p:nvPicPr>
          <p:cNvPr id="13" name="Picture 12" descr="img_018_p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228" y="1856232"/>
            <a:ext cx="2542032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0228" y="356616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prediction</a:t>
            </a:r>
          </a:p>
        </p:txBody>
      </p:sp>
      <p:pic>
        <p:nvPicPr>
          <p:cNvPr id="15" name="Picture 14" descr="img_018_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023" y="1856232"/>
            <a:ext cx="2542032" cy="1691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01023" y="356616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error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13632"/>
            <a:ext cx="110944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7DDE6"/>
                </a:solidFill>
                <a:latin typeface="Calibri"/>
              </a:rPr>
              <a:t>img_011     AUC 0.9834     F1 0.8328     Se 0.8459     Sp 0.9734</a:t>
            </a:r>
          </a:p>
        </p:txBody>
      </p:sp>
      <p:pic>
        <p:nvPicPr>
          <p:cNvPr id="18" name="Picture 17" descr="img_011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51376"/>
            <a:ext cx="2542032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86130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image</a:t>
            </a:r>
          </a:p>
        </p:txBody>
      </p:sp>
      <p:pic>
        <p:nvPicPr>
          <p:cNvPr id="20" name="Picture 19" descr="img_011_g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9434" y="4151376"/>
            <a:ext cx="2542032" cy="1691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99434" y="586130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ground truth</a:t>
            </a:r>
          </a:p>
        </p:txBody>
      </p:sp>
      <p:pic>
        <p:nvPicPr>
          <p:cNvPr id="22" name="Picture 21" descr="img_011_p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228" y="4151376"/>
            <a:ext cx="2542032" cy="1691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50228" y="586130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prediction</a:t>
            </a:r>
          </a:p>
        </p:txBody>
      </p:sp>
      <p:pic>
        <p:nvPicPr>
          <p:cNvPr id="24" name="Picture 23" descr="img_011_err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1023" y="4151376"/>
            <a:ext cx="2542032" cy="1691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01023" y="586130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4A7"/>
                </a:solidFill>
                <a:latin typeface="Calibri"/>
              </a:rPr>
              <a:t>error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63056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8A94A7"/>
                </a:solidFill>
                <a:latin typeface="Calibri"/>
              </a:rPr>
              <a:t>Error map:  white = true positive   ·   red = false positive   ·   blue = false negative   ·   dark = outside FOV / true negative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64224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8A94A7"/>
                </a:solidFill>
                <a:latin typeface="Calibri"/>
              </a:rPr>
              <a:t>Ensemble threshold 0.35  ·  D4 TTA  ·  3-seed weighted average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6B5FF"/>
                </a:solidFill>
                <a:latin typeface="Calibri"/>
              </a:rPr>
              <a:t>11  · 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7DDE6"/>
                </a:solidFill>
                <a:latin typeface="Calibri"/>
              </a:rPr>
              <a:t>What the reproduction showed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82296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53312"/>
            <a:ext cx="10271455" cy="22860"/>
          </a:xfrm>
          <a:prstGeom prst="rect">
            <a:avLst/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47088"/>
            <a:ext cx="3454298" cy="31089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76B5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D7DDE6"/>
                </a:solidFill>
                <a:latin typeface="Calibri"/>
              </a:rPr>
              <a:t>Reproduces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272277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8B3C2"/>
                </a:solidFill>
                <a:latin typeface="Calibri"/>
              </a:rPr>
              <a:t>1.68 M params hit paper-level DRIVE AUC in ~50 epochs (paper uses 200).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47088"/>
            <a:ext cx="3454298" cy="31089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4458" y="207568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76B5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4458" y="317296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D7DDE6"/>
                </a:solidFill>
                <a:latin typeface="Calibri"/>
              </a:rPr>
              <a:t>Beats — via eval tricks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458" y="3721608"/>
            <a:ext cx="272277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8B3C2"/>
                </a:solidFill>
                <a:latin typeface="Calibri"/>
              </a:rPr>
              <a:t>Ensemble of 2 seeds + TTA + threshold sweep closes the final gap.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1847088"/>
            <a:ext cx="3454298" cy="3108960"/>
          </a:xfrm>
          <a:prstGeom prst="roundRect">
            <a:avLst>
              <a:gd name="adj" fmla="val 4000"/>
            </a:avLst>
          </a:prstGeom>
          <a:solidFill>
            <a:srgbClr val="141921"/>
          </a:solidFill>
          <a:ln w="9525">
            <a:solidFill>
              <a:srgbClr val="24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4516" y="207568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76B5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4516" y="317296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D7DDE6"/>
                </a:solidFill>
                <a:latin typeface="Calibri"/>
              </a:rPr>
              <a:t>Transfers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4516" y="3721608"/>
            <a:ext cx="272277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8B3C2"/>
                </a:solidFill>
                <a:latin typeface="Calibri"/>
              </a:rPr>
              <a:t>Out-of-domain numbers confirm rotation + scale equivariance isn't DRIVE-specific.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3036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76B5FF"/>
                </a:solidFill>
                <a:latin typeface="Calibri"/>
              </a:rPr>
              <a:t>NEXT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50407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8B3C2"/>
                </a:solidFill>
                <a:latin typeface="Calibri"/>
              </a:rPr>
              <a:t>200-epoch schedule  ·  Dice / Focal ablation  ·  5-seed ensemble  ·  explicit scale augmentation.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D7DDE6"/>
                </a:solidFill>
                <a:latin typeface="Calibri"/>
              </a:rP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10047" y="3840480"/>
            <a:ext cx="1371600" cy="22860"/>
          </a:xfrm>
          <a:prstGeom prst="rect">
            <a:avLst/>
          </a:prstGeom>
          <a:solidFill>
            <a:srgbClr val="76B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A94A7"/>
                </a:solidFill>
                <a:latin typeface="Consolas"/>
              </a:rPr>
              <a:t>ensemble_eval.py  ·  src/models/rsf_paper/  ·  configs/a100/drive_rsf_paper_a100_seed43.yaml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4A7"/>
                </a:solidFill>
                <a:latin typeface="Calibri"/>
              </a:rPr>
              <a:t>RSF-Conv reproduction  ·  vvsvs  ·  2026-04-24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4A7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